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4A8FD4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3920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CAIXA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949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Vida e Previdência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ORQUESTRA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de Gestão de Pipelines de Dados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3035808"/>
            <a:ext cx="4114800" cy="36576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246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Organizador de Rotinas, Queues e Execução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977640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4A8FD4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977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Engenharia de Dados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3977640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4A8FD4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3977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POC — Fase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3977640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4A8FD4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3977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Junho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3D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</a:rPr>
              <a:t>O DESAFIO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gerenciávamos antes?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977640" cy="1508760"/>
          </a:xfrm>
          <a:prstGeom prst="rect">
            <a:avLst/>
          </a:prstGeom>
          <a:solidFill>
            <a:srgbClr val="EFF4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28800"/>
            <a:ext cx="73152" cy="150876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17627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9476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Visibilidade Zero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25880" y="23042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Sem forma centralizada de saber o status de execuções em tempo real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00600" y="1828800"/>
            <a:ext cx="3977640" cy="1508760"/>
          </a:xfrm>
          <a:prstGeom prst="rect">
            <a:avLst/>
          </a:prstGeom>
          <a:solidFill>
            <a:srgbClr val="FFF4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1828800"/>
            <a:ext cx="73152" cy="1508760"/>
          </a:xfrm>
          <a:prstGeom prst="rect">
            <a:avLst/>
          </a:prstGeom>
          <a:solidFill>
            <a:srgbClr val="F3920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217627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9476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Cadastro Manual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623560" y="23042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Pipelines e jobs em planilhas dispersas, sem rastreabilidade única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3520440"/>
            <a:ext cx="3977640" cy="1508760"/>
          </a:xfrm>
          <a:prstGeom prst="rect">
            <a:avLst/>
          </a:prstGeom>
          <a:solidFill>
            <a:srgbClr val="F3EF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02920" y="3520440"/>
            <a:ext cx="73152" cy="150876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86791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3639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Sem Histórico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325880" y="39959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Ausência de log estruturado para análise de falhas e performance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800600" y="3520440"/>
            <a:ext cx="3977640" cy="1508760"/>
          </a:xfrm>
          <a:prstGeom prst="rect">
            <a:avLst/>
          </a:prstGeom>
          <a:solidFill>
            <a:srgbClr val="E5F9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00600" y="3520440"/>
            <a:ext cx="73152" cy="15087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867912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23560" y="3639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Lineage Inexistente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623560" y="39959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Dependências entre objetos de dados sem documentação formal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3D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</a:rPr>
              <a:t>A SOLUÇÃO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D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ORQUESTRA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71907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Plataforma web centralizada que integra o Apache Airflow com uma interface intuitiva para a Engenharia de Dados gerenciar, monitorar e documentar seus pipelines.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320040" cy="502920"/>
          </a:xfrm>
          <a:prstGeom prst="rect">
            <a:avLst/>
          </a:prstGeom>
          <a:solidFill>
            <a:srgbClr val="1A5FA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852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Pipelines, Jobs, DAG Factory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493008"/>
            <a:ext cx="320040" cy="5029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5112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OBSERVAÇÃO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767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Logs, Dashboard, Alertas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151376"/>
            <a:ext cx="32004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GOVERNANÇA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4256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Lineage Visual e DSX Engine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74920" y="1005840"/>
            <a:ext cx="3749040" cy="3886200"/>
          </a:xfrm>
          <a:prstGeom prst="rect">
            <a:avLst/>
          </a:prstGeom>
          <a:solidFill>
            <a:srgbClr val="EEF5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74920" y="1005840"/>
            <a:ext cx="3749040" cy="475488"/>
          </a:xfrm>
          <a:prstGeom prst="rect">
            <a:avLst/>
          </a:prstGeom>
          <a:solidFill>
            <a:srgbClr val="0D3D6B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0058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PLATAFORMA ORQUESTRA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93792" y="1572768"/>
            <a:ext cx="1627632" cy="758952"/>
          </a:xfrm>
          <a:prstGeom prst="rect">
            <a:avLst/>
          </a:prstGeom>
          <a:solidFill>
            <a:srgbClr val="E3F2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66944" y="162763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3D6B"/>
                </a:solidFill>
              </a:rPr>
              <a:t>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66944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Pipelines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76872" y="1572768"/>
            <a:ext cx="1627632" cy="758952"/>
          </a:xfrm>
          <a:prstGeom prst="rect">
            <a:avLst/>
          </a:prstGeom>
          <a:solidFill>
            <a:srgbClr val="E8F5E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0024" y="162763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3D6B"/>
                </a:solidFill>
              </a:rPr>
              <a:t>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50024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Jobs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93792" y="2487168"/>
            <a:ext cx="1627632" cy="758952"/>
          </a:xfrm>
          <a:prstGeom prst="rect">
            <a:avLst/>
          </a:prstGeom>
          <a:solidFill>
            <a:srgbClr val="FFF3E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66944" y="254203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3D6B"/>
                </a:solidFill>
              </a:rPr>
              <a:t>◫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66944" y="2907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Dashboard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76872" y="2487168"/>
            <a:ext cx="1627632" cy="758952"/>
          </a:xfrm>
          <a:prstGeom prst="rect">
            <a:avLst/>
          </a:prstGeom>
          <a:solidFill>
            <a:srgbClr val="FCE4E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0024" y="254203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3D6B"/>
                </a:solidFill>
              </a:rPr>
              <a:t>≣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50024" y="2907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Logs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93792" y="3401568"/>
            <a:ext cx="1627632" cy="758952"/>
          </a:xfrm>
          <a:prstGeom prst="rect">
            <a:avLst/>
          </a:prstGeom>
          <a:solidFill>
            <a:srgbClr val="EDE7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66944" y="345643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3D6B"/>
                </a:solidFill>
              </a:rPr>
              <a:t>◈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66944" y="3822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Governança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76872" y="3401568"/>
            <a:ext cx="1627632" cy="758952"/>
          </a:xfrm>
          <a:prstGeom prst="rect">
            <a:avLst/>
          </a:prstGeom>
          <a:solidFill>
            <a:srgbClr val="E0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0024" y="345643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3D6B"/>
                </a:solidFill>
              </a:rPr>
              <a:t>⚙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50024" y="3822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DSX Engine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4A8FD4"/>
                </a:solidFill>
              </a:rPr>
              <a:t>ARQUITETURA DA PLATAFORMA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Visão das camadas da plataforma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83210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F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B8E8"/>
                </a:solidFill>
              </a:rPr>
              <a:t>NAVEGADOR — Interface Web SPA (HTML + CSS + JavaScript)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1554480" cy="438912"/>
          </a:xfrm>
          <a:prstGeom prst="rect">
            <a:avLst/>
          </a:prstGeom>
          <a:solidFill>
            <a:srgbClr val="1A5FA8">
              <a:alpha val="80000"/>
            </a:srgbClr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37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Pipelines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67128" y="1737360"/>
            <a:ext cx="1554480" cy="438912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67128" y="1737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Jobs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31336" y="1737360"/>
            <a:ext cx="1554480" cy="438912"/>
          </a:xfrm>
          <a:prstGeom prst="rect">
            <a:avLst/>
          </a:prstGeom>
          <a:solidFill>
            <a:srgbClr val="F39200">
              <a:alpha val="80000"/>
            </a:srgbClr>
          </a:solidFill>
          <a:ln w="12700">
            <a:solidFill>
              <a:srgbClr val="F392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31336" y="1737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Dashboard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95544" y="1737360"/>
            <a:ext cx="1554480" cy="438912"/>
          </a:xfrm>
          <a:prstGeom prst="rect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95544" y="1737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Logs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59752" y="1737360"/>
            <a:ext cx="1554480" cy="438912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9752" y="1737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Governança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280160" y="2176272"/>
            <a:ext cx="0" cy="256032"/>
          </a:xfrm>
          <a:prstGeom prst="line">
            <a:avLst/>
          </a:prstGeom>
          <a:noFill/>
          <a:ln w="12700">
            <a:solidFill>
              <a:srgbClr val="4A8FD4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944368" y="2176272"/>
            <a:ext cx="0" cy="256032"/>
          </a:xfrm>
          <a:prstGeom prst="line">
            <a:avLst/>
          </a:prstGeom>
          <a:noFill/>
          <a:ln w="12700">
            <a:solidFill>
              <a:srgbClr val="4A8FD4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608576" y="2176272"/>
            <a:ext cx="0" cy="256032"/>
          </a:xfrm>
          <a:prstGeom prst="line">
            <a:avLst/>
          </a:prstGeom>
          <a:noFill/>
          <a:ln w="12700">
            <a:solidFill>
              <a:srgbClr val="4A8FD4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272784" y="2176272"/>
            <a:ext cx="0" cy="256032"/>
          </a:xfrm>
          <a:prstGeom prst="line">
            <a:avLst/>
          </a:prstGeom>
          <a:noFill/>
          <a:ln w="12700">
            <a:solidFill>
              <a:srgbClr val="4A8FD4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936992" y="2176272"/>
            <a:ext cx="0" cy="256032"/>
          </a:xfrm>
          <a:prstGeom prst="line">
            <a:avLst/>
          </a:prstGeom>
          <a:noFill/>
          <a:ln w="12700">
            <a:solidFill>
              <a:srgbClr val="4A8FD4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02920" y="2450592"/>
            <a:ext cx="8321040" cy="502920"/>
          </a:xfrm>
          <a:prstGeom prst="rect">
            <a:avLst/>
          </a:prstGeom>
          <a:solidFill>
            <a:srgbClr val="163045"/>
          </a:solidFill>
          <a:ln w="12700">
            <a:solidFill>
              <a:srgbClr val="2D5F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4505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7BB8E8"/>
                </a:solidFill>
              </a:rPr>
              <a:t>APACHE AIRFLOW 2.11.2  —  REST API  |  Basic Auth  |  DAG Runs  |  XCom  |  CeleryExecutor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953512"/>
            <a:ext cx="0" cy="201168"/>
          </a:xfrm>
          <a:prstGeom prst="line">
            <a:avLst/>
          </a:prstGeom>
          <a:noFill/>
          <a:ln w="12700">
            <a:solidFill>
              <a:srgbClr val="4A8FD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02920" y="3172968"/>
            <a:ext cx="8321040" cy="457200"/>
          </a:xfrm>
          <a:prstGeom prst="rect">
            <a:avLst/>
          </a:prstGeom>
          <a:solidFill>
            <a:srgbClr val="0D2B45"/>
          </a:solidFill>
          <a:ln w="12700">
            <a:solidFill>
              <a:srgbClr val="2D5F9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1729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A3D6"/>
                </a:solidFill>
              </a:rPr>
              <a:t>DAGs Python: etl_pipeline_query | etl_pipeline_register | etl_pipeline_job_register | etl_dag_factory | etl_dashboard_query | etl_lineage_extract_dsx | etl_performance_monitor | ...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0" y="3630168"/>
            <a:ext cx="0" cy="182880"/>
          </a:xfrm>
          <a:prstGeom prst="line">
            <a:avLst/>
          </a:prstGeom>
          <a:noFill/>
          <a:ln w="12700">
            <a:solidFill>
              <a:srgbClr val="4A8FD4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132320" y="3630168"/>
            <a:ext cx="0" cy="182880"/>
          </a:xfrm>
          <a:prstGeom prst="line">
            <a:avLst/>
          </a:prstGeom>
          <a:noFill/>
          <a:ln w="12700">
            <a:solidFill>
              <a:srgbClr val="7C3AED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02920" y="3813048"/>
            <a:ext cx="5303520" cy="457200"/>
          </a:xfrm>
          <a:prstGeom prst="rect">
            <a:avLst/>
          </a:prstGeom>
          <a:solidFill>
            <a:srgbClr val="0D1F33"/>
          </a:solidFill>
          <a:ln w="12700">
            <a:solidFill>
              <a:srgbClr val="2D5F9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8130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A3D6"/>
                </a:solidFill>
              </a:rPr>
              <a:t>SQL SERVER (DMDB41)  —  etl_pipeline | etl_pipeline_job | etl_job_lineage | etl_job_execution | etl_pipeline_performance_snapshot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0" y="3813048"/>
            <a:ext cx="27889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8130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Volume DSX  —  /opt/airflow/dsx/  |  BI_*.dsx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482803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A8FD4"/>
                </a:solidFill>
              </a:rPr>
              <a:t>Docker Compose: Airflow + Redis + PostgreSQL + Nginx  |  LDAP: adcorp.intranet  |  Grupos AD: GRP_AIRFLOW_Admin / Developer / Operator / Viewer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3D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</a:rPr>
              <a:t>FLUXO OPERACIONAL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 configuração ao dashboard em 5 etapas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84048" y="1581912"/>
            <a:ext cx="1581912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581912"/>
            <a:ext cx="1581912" cy="566928"/>
          </a:xfrm>
          <a:prstGeom prst="rect">
            <a:avLst/>
          </a:prstGeom>
          <a:solidFill>
            <a:srgbClr val="1A5FA8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581912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5488" y="2212848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Cadastro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688336"/>
            <a:ext cx="1399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Pipeline com projeto, domínio, horário e notificações Teams configuradas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65960" y="2852928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8FD4"/>
                </a:solidFill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1581912"/>
            <a:ext cx="1581912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03120" y="1581912"/>
            <a:ext cx="1581912" cy="5669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1581912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94560" y="2212848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Jobs + Lineage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2688336"/>
            <a:ext cx="1399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Jobs vinculados em ordem de execução com origens e destinos (manual ou DSX)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85032" y="2852928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8FD4"/>
                </a:solidFill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22192" y="1581912"/>
            <a:ext cx="1581912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22192" y="1581912"/>
            <a:ext cx="1581912" cy="5669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3822192" y="1581912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913632" y="2212848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DAG Gerada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13632" y="2688336"/>
            <a:ext cx="1399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etl_dag_factory cria o arquivo .py automaticamente com toda a telemetria embutida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04104" y="2852928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8FD4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41264" y="1581912"/>
            <a:ext cx="1581912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41264" y="1581912"/>
            <a:ext cx="1581912" cy="566928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26" name="Text 24"/>
          <p:cNvSpPr/>
          <p:nvPr/>
        </p:nvSpPr>
        <p:spPr>
          <a:xfrm>
            <a:off x="5541264" y="1581912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632704" y="2212848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Execução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32704" y="2688336"/>
            <a:ext cx="1399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Airflow roda no schedule e popula etl_job_execution com status, duração e log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123176" y="2852928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8FD4"/>
                </a:solidFill>
              </a:rPr>
              <a:t>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60336" y="1581912"/>
            <a:ext cx="1581912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60336" y="1581912"/>
            <a:ext cx="1581912" cy="56692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2" name="Text 30"/>
          <p:cNvSpPr/>
          <p:nvPr/>
        </p:nvSpPr>
        <p:spPr>
          <a:xfrm>
            <a:off x="7260336" y="1581912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351776" y="2212848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Observação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51776" y="2688336"/>
            <a:ext cx="1399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Dashboard exibe KPIs, alertas de performance e drill-down por job em tempo real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3D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</a:rPr>
              <a:t>FUNCIONALIDADES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está implementado hoje — 6 módulos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651760" cy="17373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08760"/>
            <a:ext cx="2651760" cy="457200"/>
          </a:xfrm>
          <a:prstGeom prst="rect">
            <a:avLst/>
          </a:prstGeom>
          <a:solidFill>
            <a:srgbClr val="1A5FA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08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≡ Gestão de Pipelines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" y="20208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Cadastro: projeto, domínio, tags, horário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12648" y="22951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Status ativo/inativo (soft delete)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12648" y="25694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Notificações Teams configuráveis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2648" y="28437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DAG gerada automaticamente pela Factory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7560" y="1508760"/>
            <a:ext cx="2651760" cy="17373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508760"/>
            <a:ext cx="265176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508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⬡ Gestão de Jobs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47288" y="20208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CRUD completo com validação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47288" y="22951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Reordenação inline com salvamento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47288" y="25694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Lineage manual e via DSX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47288" y="28437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Botão 'Lineage' direto na tabela de resultados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72200" y="1508760"/>
            <a:ext cx="2651760" cy="17373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508760"/>
            <a:ext cx="2651760" cy="45720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508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◫ Dashboard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81928" y="20208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5 KPIs: execuções, sucesso, falhas, duração, rodando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81928" y="22951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Alertas de performance +3h/+6h/+12h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81928" y="25694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Lista de pipelines executando agora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81928" y="28437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Status e último run por pipeline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3447288"/>
            <a:ext cx="2651760" cy="17373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3447288"/>
            <a:ext cx="2651760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447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≣ Logs de Execução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" y="39593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5 filtros: projeto, pipeline, status, data, execution_id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2648" y="4233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Drill-down: jobs individuais de cada run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2648" y="45079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Pills coloridos SUCCESS/FAILED/WARNING/RUNNING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2648" y="47823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Paginação e busca avançada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37560" y="3447288"/>
            <a:ext cx="2651760" cy="17373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37560" y="3447288"/>
            <a:ext cx="265176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3429000" y="3447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◈ Aba Governança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47288" y="39593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Visão nível job: origens → transformação → destino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447288" y="4233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Visão nível pipeline: fluxo completo na ordem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447288" y="45079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Carrega lineage via DAG etl_lineage_query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447288" y="47823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SVG inline gerado dinamicamente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72200" y="3447288"/>
            <a:ext cx="2651760" cy="17373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72200" y="3447288"/>
            <a:ext cx="265176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3" name="Text 41"/>
          <p:cNvSpPr/>
          <p:nvPr/>
        </p:nvSpPr>
        <p:spPr>
          <a:xfrm>
            <a:off x="6263640" y="3447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 Infraestrutura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81928" y="39593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Docker: CeleryExecutor + Redis + PostgreSQL + Nginx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81928" y="4233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Auth LDAP + grupos AD (Admin/Dev/Op/Viewer)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81928" y="45079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7 DAGs Python modulares e versionadas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81928" y="47823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▪ 5 tabelas + 6 stored procedures + 3 índices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5486400" cy="5486400"/>
          </a:xfrm>
          <a:prstGeom prst="ellipse">
            <a:avLst/>
          </a:prstGeom>
          <a:solidFill>
            <a:srgbClr val="7C3AED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A78BFA"/>
                </a:solidFill>
              </a:rPr>
              <a:t>DIFERENCIAL ESTRATÉGICO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Extração Automática de Lineage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</a:rPr>
              <a:t>via arquivos DataStage (.dsx) — zero digitação manual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" y="1920240"/>
            <a:ext cx="1993392" cy="2651760"/>
          </a:xfrm>
          <a:prstGeom prst="rect">
            <a:avLst/>
          </a:prstGeom>
          <a:solidFill>
            <a:srgbClr val="111827"/>
          </a:solidFill>
          <a:ln w="12700">
            <a:solidFill>
              <a:srgbClr val="4A8F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920240"/>
            <a:ext cx="1993392" cy="502920"/>
          </a:xfrm>
          <a:prstGeom prst="rect">
            <a:avLst/>
          </a:prstGeom>
          <a:solidFill>
            <a:srgbClr val="4A8FD4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9202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2496312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8FD4"/>
                </a:solidFill>
              </a:rPr>
              <a:t>Botão no Job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971800"/>
            <a:ext cx="1810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Abre Lineage do job → clica '⬡ Extrair do DSX'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68880" y="30632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51760" y="1920240"/>
            <a:ext cx="1993392" cy="2651760"/>
          </a:xfrm>
          <a:prstGeom prst="rect">
            <a:avLst/>
          </a:prstGeom>
          <a:solidFill>
            <a:srgbClr val="11182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1920240"/>
            <a:ext cx="1993392" cy="502920"/>
          </a:xfrm>
          <a:prstGeom prst="rect">
            <a:avLst/>
          </a:prstGeom>
          <a:solidFill>
            <a:srgbClr val="0891B2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9202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43200" y="2496312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DAG Processa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2971800"/>
            <a:ext cx="1810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etl_lineage_extract_dsx lê o BI_PROJETO.dsx no servidor Airflow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45152" y="30632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28032" y="1920240"/>
            <a:ext cx="1993392" cy="265176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1920240"/>
            <a:ext cx="1993392" cy="502920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19202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19472" y="2496312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Prévia para Revisão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2971800"/>
            <a:ext cx="1810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Sistema exibe origens e destinos encontrados no arquivo para aprovação humana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21424" y="30632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04304" y="1920240"/>
            <a:ext cx="1993392" cy="2651760"/>
          </a:xfrm>
          <a:prstGeom prst="rect">
            <a:avLst/>
          </a:prstGeom>
          <a:solidFill>
            <a:srgbClr val="111827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04304" y="1920240"/>
            <a:ext cx="1993392" cy="502920"/>
          </a:xfrm>
          <a:prstGeom prst="rect">
            <a:avLst/>
          </a:prstGeom>
          <a:solidFill>
            <a:srgbClr val="27AE60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004304" y="19202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095744" y="2496312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Salvo no Banco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95744" y="2971800"/>
            <a:ext cx="1810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</a:rPr>
              <a:t>7 campos de metadados gravados: stage, tipo, banco, SQL, arquivo, timestamp, método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" y="4636008"/>
            <a:ext cx="8348472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636008"/>
            <a:ext cx="8165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8BFA"/>
                </a:solidFill>
              </a:rPr>
              <a:t>Resultado: catálogo de dados vivo, rastreabilidade automática e base para lineage de colunas na Fase 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3D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</a:rPr>
              <a:t>BENEFÍCIOS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Valor entregue para a Engenharia de Dados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406908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08760"/>
            <a:ext cx="73152" cy="1353312"/>
          </a:xfrm>
          <a:prstGeom prst="rect">
            <a:avLst/>
          </a:prstGeom>
          <a:solidFill>
            <a:srgbClr val="1A5FA8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600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04088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Visibilidade de Pipelines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04088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Status em tempo real de todas as execuções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28032" y="1508760"/>
            <a:ext cx="406908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28032" y="1508760"/>
            <a:ext cx="73152" cy="13533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600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02920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DAGs Python Integradas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Módulos padronizados, versionados e reutilizáveis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017520"/>
            <a:ext cx="406908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017520"/>
            <a:ext cx="73152" cy="135331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31089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04088" y="3685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Exposição Externa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04088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Tudo no ambiente corporativo com auth LDAP/AD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28032" y="3017520"/>
            <a:ext cx="406908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28032" y="3017520"/>
            <a:ext cx="73152" cy="13533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1089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1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029200" y="3685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Catálogo de Dados Vivo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Lineage de objetos capturado e visualizável agora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59028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  Resposta a incidentes mais rápida com drill-down de logs por job  ·  </a:t>
            </a:r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  Histórico de performance para planos de melhoria  ·  </a:t>
            </a:r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  Notificações automáticas no Microsoft Teams por pipeline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3D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</a:rPr>
              <a:t>EVOLUÇÃO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a partir da base atual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697480" cy="3456432"/>
          </a:xfrm>
          <a:prstGeom prst="rect">
            <a:avLst/>
          </a:prstGeom>
          <a:solidFill>
            <a:srgbClr val="EAF7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08760"/>
            <a:ext cx="2697480" cy="5303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0876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FASE 1 — CONCLUÍDA 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21031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Gestão completa de Pipelines e Jobs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12648" y="255117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Dashboard: 5 KPIs + alertas de performance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12648" y="299923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Logs com drill-down por job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2648" y="34472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Governança: lineage visual job e pipeline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2648" y="389534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Extração automática via DSXEngine (.dsx)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2648" y="434340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DAG Factory — geração automática de pipelines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55848" y="1508760"/>
            <a:ext cx="2697480" cy="3456432"/>
          </a:xfrm>
          <a:prstGeom prst="rect">
            <a:avLst/>
          </a:prstGeom>
          <a:solidFill>
            <a:srgbClr val="EEF5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55848" y="1508760"/>
            <a:ext cx="2697480" cy="530352"/>
          </a:xfrm>
          <a:prstGeom prst="rect">
            <a:avLst/>
          </a:prstGeom>
          <a:solidFill>
            <a:srgbClr val="4A8FD4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447288" y="150876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FA8"/>
                </a:solidFill>
              </a:rPr>
              <a:t>FASE 2 — PRÓXIMOS PASSOS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65576" y="21031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FA8"/>
                </a:solidFill>
              </a:rPr>
              <a:t>◎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Lineage de colunas (parsing do sql_expression já armazenado)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65576" y="255117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FA8"/>
                </a:solidFill>
              </a:rPr>
              <a:t>◎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Dashboard histórico: evolução de performance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65576" y="299923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FA8"/>
                </a:solidFill>
              </a:rPr>
              <a:t>◎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SLA por pipeline com notificação proativa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65576" y="34472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FA8"/>
                </a:solidFill>
              </a:rPr>
              <a:t>◎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Redução de latência com FastAPI direto ao SQL Server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65576" y="389534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FA8"/>
                </a:solidFill>
              </a:rPr>
              <a:t>◎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Cobertura em todos os 4 projetos (BI_CVP, VIDA, PREV, PREST)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08776" y="1508760"/>
            <a:ext cx="2697480" cy="3456432"/>
          </a:xfrm>
          <a:prstGeom prst="rect">
            <a:avLst/>
          </a:prstGeom>
          <a:solidFill>
            <a:srgbClr val="FFF8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08776" y="1508760"/>
            <a:ext cx="2697480" cy="530352"/>
          </a:xfrm>
          <a:prstGeom prst="rect">
            <a:avLst/>
          </a:prstGeom>
          <a:solidFill>
            <a:srgbClr val="F39200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00216" y="150876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200"/>
                </a:solidFill>
              </a:rPr>
              <a:t>FASE 3 — VISÃO FUTURA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18504" y="21031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9200"/>
                </a:solidFill>
              </a:rPr>
              <a:t>◎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Catálogo com busca por objeto/tabela de dados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18504" y="255117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9200"/>
                </a:solidFill>
              </a:rPr>
              <a:t>◎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Análise de impacto: 'quem usa este dado?'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18504" y="299923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9200"/>
                </a:solidFill>
              </a:rPr>
              <a:t>◎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Integração com quality checks (Great Expectations)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18504" y="34472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9200"/>
                </a:solidFill>
              </a:rPr>
              <a:t>◎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Portal self-service para analistas de negócio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18504" y="389534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9200"/>
                </a:solidFill>
              </a:rPr>
              <a:t>◎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Alertas inteligentes com detecção de anomalias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3D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</a:rPr>
              <a:t>MODELO DE DADOS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Estrutura SQL Server (DMDB41) — 5 tabelas, 6 stored procedures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8321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36192"/>
            <a:ext cx="73152" cy="548640"/>
          </a:xfrm>
          <a:prstGeom prst="rect">
            <a:avLst/>
          </a:prstGeom>
          <a:solidFill>
            <a:srgbClr val="1A5FA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910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dbo.etl_pipeline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Cadastro de pipelines: projeto, domínio, tags, schedule, flags de notificação Teams, DAG_CRIADA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157984"/>
            <a:ext cx="8321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157984"/>
            <a:ext cx="73152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12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dbo.etl_pipeline_job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45059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Jobs por pipeline: nome, ordem de execução, tipo (datastage/shell/python/storedproc), comando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779776"/>
            <a:ext cx="8321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779776"/>
            <a:ext cx="73152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834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dbo.etl_job_lineage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0723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Lineage de objetos: direção, tipo, stage_name, database_name, sql_expression, dsx_source_file, método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401568"/>
            <a:ext cx="8321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401568"/>
            <a:ext cx="73152" cy="54864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456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dbo.etl_job_execution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69417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Telemetria de execuções: execution_id, status, duração, log_file — base do Dashboard e Logs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23360"/>
            <a:ext cx="8321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4023360"/>
            <a:ext cx="73152" cy="548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078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dbo.etl_pipeline_performance_snapshot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431596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Histórico de alertas de performance: pipelines em execução &gt; 3h/6h/12h — snapshot horário para análise de tendência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754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Índices NONCLUSTERED em etl_job_execution: pipeline+status+start_time | project+status+start_time | execution_id+pipeline  —  para suporte ao Dashboard e drill-down de Logs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4A8FD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F39200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ADCFC"/>
                </a:solidFill>
              </a:rPr>
              <a:t>PRÓXIMOS PASSOS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base está construída.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9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Agora evoluímos.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2395728"/>
            <a:ext cx="5029200" cy="36576"/>
          </a:xfrm>
          <a:prstGeom prst="rect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1.  Aplicar specs de evolução (Dashboard v2, Performance Monitor, Lineage DSX, Governança) na esteira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05409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2.  Expandir cobertura para os 4 projetos: BI_CVP, BI_VIDA, BI_PREVIDENCIA, BI_PRESTAMISTA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52958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3.  Carregar arquivos .dsx no servidor para habilitar extração automática de lineage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0050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4.  Iniciar coleta de snapshot de performance para baseline histórico de evolução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44568"/>
            <a:ext cx="8321040" cy="438912"/>
          </a:xfrm>
          <a:prstGeom prst="rect">
            <a:avLst/>
          </a:prstGeom>
          <a:solidFill>
            <a:srgbClr val="0D1F33">
              <a:alpha val="8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5445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ORQUESTRA  —  Engenharia de Dados  |  CAIXA Vida e Previdência  |  Junho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ORQUESTRA — Plataforma de Gestão de Pipelines</dc:title>
  <dc:subject>PptxGenJS Presentation</dc:subject>
  <dc:creator>PptxGenJS</dc:creator>
  <cp:lastModifiedBy>PptxGenJS</cp:lastModifiedBy>
  <cp:revision>1</cp:revision>
  <dcterms:created xsi:type="dcterms:W3CDTF">2026-06-01T13:13:57Z</dcterms:created>
  <dcterms:modified xsi:type="dcterms:W3CDTF">2026-06-01T13:13:57Z</dcterms:modified>
</cp:coreProperties>
</file>